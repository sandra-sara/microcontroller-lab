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8" r:id="rId5"/>
    <p:sldId id="266" r:id="rId6"/>
    <p:sldId id="268" r:id="rId7"/>
    <p:sldId id="272" r:id="rId8"/>
    <p:sldId id="269" r:id="rId9"/>
    <p:sldId id="277" r:id="rId10"/>
    <p:sldId id="278" r:id="rId11"/>
    <p:sldId id="271" r:id="rId12"/>
    <p:sldId id="274" r:id="rId13"/>
    <p:sldId id="275" r:id="rId14"/>
    <p:sldId id="276" r:id="rId15"/>
    <p:sldId id="281" r:id="rId16"/>
    <p:sldId id="280" r:id="rId17"/>
    <p:sldId id="27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FB670-7427-4185-8511-6F36A014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D473D-6081-4804-9B28-4FA7D2C383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9C193-D30F-4B7A-8956-32E4F6D9D2C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68452-BA11-400A-8E67-C003922CC3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0A332-336E-4B1B-9128-655A1F9DB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948B1-B6D3-4578-932F-6AE7124E5E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135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AC78B-5884-4D24-983C-916233003E8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B528-7684-4A37-99F6-46340DCC2B3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8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 userDrawn="1"/>
        </p:nvSpPr>
        <p:spPr bwMode="auto">
          <a:xfrm>
            <a:off x="11784011" y="345139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8819" y="2270908"/>
            <a:ext cx="7034362" cy="2188992"/>
          </a:xfrm>
        </p:spPr>
        <p:txBody>
          <a:bodyPr anchor="ctr" anchorCtr="0">
            <a:noAutofit/>
          </a:bodyPr>
          <a:lstStyle>
            <a:lvl1pPr algn="ctr">
              <a:lnSpc>
                <a:spcPct val="85000"/>
              </a:lnSpc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6793" y="5024051"/>
            <a:ext cx="7034362" cy="1052898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84338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F35A1469-2D5F-4CF6-9A65-876A4BCDDACA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15066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72151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1549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EE1DAB-B868-4EEB-BD54-B9BAB6F58361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37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88A9-102E-4111-86E0-D51E9CB704AA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993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78772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6BD67-B37A-4DEF-9054-A91A6B18355E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1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983FCBB-03A1-486A-BDE2-92BD88EA0FC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29006" y="2981325"/>
            <a:ext cx="1866900" cy="2828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1365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3432B8B-A85D-47CE-98BC-3DF0B2F26AF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5400" y="431747"/>
            <a:ext cx="5105400" cy="68463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88800" y="1468316"/>
            <a:ext cx="4831664" cy="3865070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35B7-901B-460F-BE63-E630BF7AD92D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41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62000" y="305678"/>
            <a:ext cx="10667998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01C1E-44EC-4ED6-87AC-7B26C9BC7568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AF3C3132-3E24-455C-9341-F3767C087D5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2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443527"/>
            <a:ext cx="3348000" cy="22916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78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C8E5ED0-7922-414F-9B0F-CA82F0A3C660}"/>
              </a:ext>
            </a:extLst>
          </p:cNvPr>
          <p:cNvSpPr/>
          <p:nvPr userDrawn="1"/>
        </p:nvSpPr>
        <p:spPr>
          <a:xfrm>
            <a:off x="0" y="1540330"/>
            <a:ext cx="12192000" cy="47156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AC8F6D-0687-481A-9761-11AB8A79722C}"/>
              </a:ext>
            </a:extLst>
          </p:cNvPr>
          <p:cNvSpPr/>
          <p:nvPr userDrawn="1"/>
        </p:nvSpPr>
        <p:spPr>
          <a:xfrm>
            <a:off x="0" y="1"/>
            <a:ext cx="12191999" cy="15474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8571" y="6314440"/>
            <a:ext cx="3814856" cy="365125"/>
          </a:xfrm>
        </p:spPr>
        <p:txBody>
          <a:bodyPr/>
          <a:lstStyle/>
          <a:p>
            <a:fld id="{4AE13B8D-7A39-483F-9092-AB66B2338492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reeform 6" title="Page Number Shape">
            <a:extLst>
              <a:ext uri="{FF2B5EF4-FFF2-40B4-BE49-F238E27FC236}">
                <a16:creationId xmlns:a16="http://schemas.microsoft.com/office/drawing/2014/main" id="{0370AA61-B230-4320-8591-17B9EA527174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AC19ED-7CFA-4AF2-BE7E-6017F4B12C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A783413-0A31-4F6C-B545-866183ABB0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1999" y="2875327"/>
            <a:ext cx="3348000" cy="2291676"/>
          </a:xfrm>
        </p:spPr>
        <p:txBody>
          <a:bodyPr anchor="ctr" anchorCtr="0"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4C76CE-242A-40DC-B9BA-9F6CD2FEB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761999" y="280278"/>
            <a:ext cx="10676571" cy="1002422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89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352848"/>
            <a:ext cx="10667998" cy="1002422"/>
          </a:xfrm>
        </p:spPr>
        <p:txBody>
          <a:bodyPr anchor="ctr" anchorCtr="0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8724" y="1534886"/>
            <a:ext cx="2581273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B421F-7852-47A7-8672-3F4B3DC607FF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2000" y="1534886"/>
            <a:ext cx="7829550" cy="427536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47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768376-ED37-468E-9A28-4A8C73222CFB}"/>
              </a:ext>
            </a:extLst>
          </p:cNvPr>
          <p:cNvSpPr/>
          <p:nvPr userDrawn="1"/>
        </p:nvSpPr>
        <p:spPr>
          <a:xfrm>
            <a:off x="5263637" y="0"/>
            <a:ext cx="692836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E990-BAB9-4562-95E3-50660C2796F3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EDD3AEB-5731-4BFB-B455-2CAA76BB8C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22695" y="358646"/>
            <a:ext cx="5505450" cy="5896056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pPr marL="0" lvl="0" indent="0">
              <a:lnSpc>
                <a:spcPct val="100000"/>
              </a:lnSpc>
              <a:spcAft>
                <a:spcPts val="2400"/>
              </a:spcAft>
              <a:buNone/>
            </a:pPr>
            <a:r>
              <a:rPr lang="en-US" sz="3200" noProof="0">
                <a:cs typeface="Segoe UI" panose="020B0502040204020203" pitchFamily="34" charset="0"/>
              </a:rPr>
              <a:t>Edit Master text styles</a:t>
            </a:r>
          </a:p>
        </p:txBody>
      </p:sp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F054F317-CFFE-48EF-91D4-872C9FE7043D}"/>
              </a:ext>
            </a:extLst>
          </p:cNvPr>
          <p:cNvSpPr/>
          <p:nvPr userDrawn="1"/>
        </p:nvSpPr>
        <p:spPr bwMode="auto">
          <a:xfrm>
            <a:off x="11793378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D58896D-DB7B-49E4-87EC-67CEAB2EF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7570" y="548792"/>
            <a:ext cx="3833906" cy="4952492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11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0054D9-7800-4106-9C2D-E383D9D6A16D}"/>
              </a:ext>
            </a:extLst>
          </p:cNvPr>
          <p:cNvSpPr/>
          <p:nvPr userDrawn="1"/>
        </p:nvSpPr>
        <p:spPr>
          <a:xfrm>
            <a:off x="6901869" y="0"/>
            <a:ext cx="529336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BBCD-CBA1-4D0B-806D-FC14D8656200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FBAD01-7A3E-42FB-9A1E-EAF5F97616A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46659" y="688779"/>
            <a:ext cx="5746376" cy="522307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7213600" y="280278"/>
            <a:ext cx="4641006" cy="2397608"/>
          </a:xfrm>
        </p:spPr>
        <p:txBody>
          <a:bodyPr anchor="ctr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Freeform 6" title="Page Number Shape">
            <a:extLst>
              <a:ext uri="{FF2B5EF4-FFF2-40B4-BE49-F238E27FC236}">
                <a16:creationId xmlns:a16="http://schemas.microsoft.com/office/drawing/2014/main" id="{B162E9BD-1CEB-41D5-8DEB-7C5EDF3B01C3}"/>
              </a:ext>
            </a:extLst>
          </p:cNvPr>
          <p:cNvSpPr/>
          <p:nvPr userDrawn="1"/>
        </p:nvSpPr>
        <p:spPr bwMode="auto">
          <a:xfrm>
            <a:off x="11792583" y="35647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6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6767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651A72-6E17-4CF4-8218-285FCAC88E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181600" y="557784"/>
            <a:ext cx="6248400" cy="2307964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2A31231-1080-4CC0-9896-EF779EE27CB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5121" y="2950589"/>
            <a:ext cx="6188679" cy="2563243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32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C437-5C9D-4B1A-9C56-1C544AB8146E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952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2D3B-BB2C-4EA8-8616-6D874F8BB777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9539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036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E975-0B6B-4B58-A4AA-C8F33B87478E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5F786-D848-499D-B37D-96CF11DE9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55480"/>
            <a:ext cx="6246812" cy="53055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726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360167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9E139DA8-D636-4336-B416-25DD0050B639}" type="datetime8">
              <a:rPr lang="en-US" noProof="0" smtClean="0"/>
              <a:t>1/3/2026 4:24 PM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87179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7AAC19ED-7CFA-4AF2-BE7E-6017F4B12C94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8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62" r:id="rId3"/>
    <p:sldLayoutId id="2147483673" r:id="rId4"/>
    <p:sldLayoutId id="2147483677" r:id="rId5"/>
    <p:sldLayoutId id="2147483674" r:id="rId6"/>
    <p:sldLayoutId id="2147483679" r:id="rId7"/>
    <p:sldLayoutId id="2147483678" r:id="rId8"/>
    <p:sldLayoutId id="2147483676" r:id="rId9"/>
    <p:sldLayoutId id="2147483675" r:id="rId10"/>
    <p:sldLayoutId id="2147483665" r:id="rId11"/>
    <p:sldLayoutId id="2147483682" r:id="rId12"/>
    <p:sldLayoutId id="2147483681" r:id="rId13"/>
    <p:sldLayoutId id="2147483667" r:id="rId14"/>
    <p:sldLayoutId id="2147483668" r:id="rId15"/>
    <p:sldLayoutId id="2147483680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B3CD-9828-4280-95EC-5F9D73400FF8}"/>
              </a:ext>
            </a:extLst>
          </p:cNvPr>
          <p:cNvSpPr>
            <a:spLocks noGrp="1"/>
          </p:cNvSpPr>
          <p:nvPr>
            <p:ph type="ctrTitle"/>
          </p:nvPr>
        </p:nvSpPr>
        <p:spPr bwMode="white"/>
        <p:txBody>
          <a:bodyPr/>
          <a:lstStyle/>
          <a:p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A3178-CB65-4687-BC8A-DBB6F3C6E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3200" dirty="0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92D9B22-CA63-4CDB-8957-40947F45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8C1723-6BE3-4292-90F2-43C7A22F50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 bwMode="white">
          <a:xfrm>
            <a:off x="2407627" y="1184031"/>
            <a:ext cx="7376746" cy="4149970"/>
            <a:chOff x="2989385" y="1679331"/>
            <a:chExt cx="7376746" cy="268165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F9A4E4-33FF-4BA5-9A1C-6E8B73621BEB}"/>
                </a:ext>
              </a:extLst>
            </p:cNvPr>
            <p:cNvCxnSpPr/>
            <p:nvPr/>
          </p:nvCxnSpPr>
          <p:spPr bwMode="white">
            <a:xfrm>
              <a:off x="2989385" y="1679331"/>
              <a:ext cx="7376746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9168D7F-9049-4135-9731-02DB8D3CD4C9}"/>
                </a:ext>
              </a:extLst>
            </p:cNvPr>
            <p:cNvCxnSpPr/>
            <p:nvPr/>
          </p:nvCxnSpPr>
          <p:spPr bwMode="white">
            <a:xfrm>
              <a:off x="10366130" y="1688123"/>
              <a:ext cx="0" cy="2672862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19D412-8FFA-4958-A76C-EB9E1F690AD9}"/>
                </a:ext>
              </a:extLst>
            </p:cNvPr>
            <p:cNvCxnSpPr/>
            <p:nvPr/>
          </p:nvCxnSpPr>
          <p:spPr bwMode="white">
            <a:xfrm>
              <a:off x="2989385" y="1679331"/>
              <a:ext cx="0" cy="267480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5B0E36-8696-452F-958E-984FBF104D99}"/>
                </a:ext>
              </a:extLst>
            </p:cNvPr>
            <p:cNvCxnSpPr/>
            <p:nvPr/>
          </p:nvCxnSpPr>
          <p:spPr bwMode="white">
            <a:xfrm>
              <a:off x="2989385" y="4354131"/>
              <a:ext cx="1740877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3F49821-5888-450B-ABA1-D4D7B73EC2AB}"/>
                </a:ext>
              </a:extLst>
            </p:cNvPr>
            <p:cNvCxnSpPr/>
            <p:nvPr/>
          </p:nvCxnSpPr>
          <p:spPr bwMode="white">
            <a:xfrm>
              <a:off x="8625254" y="4360985"/>
              <a:ext cx="1740877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51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6D27-68F1-47B9-A6E0-2CEAFAEB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15" y="358646"/>
            <a:ext cx="3833906" cy="22787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Density Based Smart </a:t>
            </a:r>
            <a:r>
              <a:rPr lang="en-US" dirty="0"/>
              <a:t>Traffic Light System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2A6366-FF6C-47F2-B842-B9F516ACC7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85800" y="2764629"/>
            <a:ext cx="3833906" cy="2611038"/>
          </a:xfrm>
          <a:prstGeom prst="round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4472FF-5CE9-4C28-A4FF-E178C31EC5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557187" y="176224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6C871-D206-4292-AECC-3EBF29BE656A}"/>
              </a:ext>
            </a:extLst>
          </p:cNvPr>
          <p:cNvSpPr txBox="1"/>
          <p:nvPr/>
        </p:nvSpPr>
        <p:spPr>
          <a:xfrm>
            <a:off x="6636765" y="1796194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14446E-8D49-40FF-8036-3BE0DA8E5B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555257" y="2856454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E3861-81FF-4843-A74C-8C4C7AE9AA66}"/>
              </a:ext>
            </a:extLst>
          </p:cNvPr>
          <p:cNvSpPr txBox="1"/>
          <p:nvPr/>
        </p:nvSpPr>
        <p:spPr>
          <a:xfrm>
            <a:off x="6631998" y="2890399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pic>
        <p:nvPicPr>
          <p:cNvPr id="1026" name="Picture 2" descr="How Traffic Light Control Systems Work - autoevolu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15" y="2764629"/>
            <a:ext cx="3869833" cy="261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994315" y="1728304"/>
            <a:ext cx="438388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Smart Traffic Light System using ESP32 and Infrared Sensors</a:t>
            </a: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practical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demonstration of automation and IoT in traffic management</a:t>
            </a: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64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509622" y="2306575"/>
            <a:ext cx="1117275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congestion is a major challenge in modern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traffic lights operate on fixed timers, often failing to adapt           to real traffic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introduces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traffic light system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uses             ESP32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IR sensors to dynamically control signals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vehicle presence.</a:t>
            </a:r>
          </a:p>
        </p:txBody>
      </p:sp>
    </p:spTree>
    <p:extLst>
      <p:ext uri="{BB962C8B-B14F-4D97-AF65-F5344CB8AC3E}">
        <p14:creationId xmlns:p14="http://schemas.microsoft.com/office/powerpoint/2010/main" val="37168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055D10-5B53-4AB5-B108-CAEA2CCD74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465544" y="2123481"/>
            <a:ext cx="3833906" cy="26110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050939-D8BA-4932-A12D-76E1C8DB0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119620" y="1779754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9" name="TextBox 8" descr="decorative element">
            <a:extLst>
              <a:ext uri="{FF2B5EF4-FFF2-40B4-BE49-F238E27FC236}">
                <a16:creationId xmlns:a16="http://schemas.microsoft.com/office/drawing/2014/main" id="{203CBBBF-0B81-4DFD-BF97-EB2A57EFB9A8}"/>
              </a:ext>
            </a:extLst>
          </p:cNvPr>
          <p:cNvSpPr txBox="1"/>
          <p:nvPr/>
        </p:nvSpPr>
        <p:spPr>
          <a:xfrm>
            <a:off x="5186932" y="1789751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A05C8E-8DB2-4A35-8654-BC76A6BEFD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076053" y="264880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1" name="TextBox 10" descr="decorative element">
            <a:extLst>
              <a:ext uri="{FF2B5EF4-FFF2-40B4-BE49-F238E27FC236}">
                <a16:creationId xmlns:a16="http://schemas.microsoft.com/office/drawing/2014/main" id="{4EF9D577-2886-4CDA-B921-E2B2C3ACB335}"/>
              </a:ext>
            </a:extLst>
          </p:cNvPr>
          <p:cNvSpPr txBox="1"/>
          <p:nvPr/>
        </p:nvSpPr>
        <p:spPr>
          <a:xfrm>
            <a:off x="5158605" y="2686710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479838-5C1C-498A-A57F-23C902B64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115037" y="3601872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3" name="TextBox 12" descr="decorative element">
            <a:extLst>
              <a:ext uri="{FF2B5EF4-FFF2-40B4-BE49-F238E27FC236}">
                <a16:creationId xmlns:a16="http://schemas.microsoft.com/office/drawing/2014/main" id="{4F0FB908-D139-41C0-A768-4CC591531971}"/>
              </a:ext>
            </a:extLst>
          </p:cNvPr>
          <p:cNvSpPr txBox="1"/>
          <p:nvPr/>
        </p:nvSpPr>
        <p:spPr>
          <a:xfrm>
            <a:off x="5186932" y="3601872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4A029-8AD0-4A10-B977-541CE5DD06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849812" y="1468316"/>
            <a:ext cx="6934199" cy="3833906"/>
          </a:xfrm>
          <a:prstGeom prst="roundRect">
            <a:avLst>
              <a:gd name="adj" fmla="val 0"/>
            </a:avLst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7AAF-C78F-46C2-9727-8076925CD7F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0370119" y="4032569"/>
            <a:ext cx="3008119" cy="101597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sz="3000" dirty="0">
              <a:solidFill>
                <a:prstClr val="black">
                  <a:lumMod val="85000"/>
                  <a:lumOff val="15000"/>
                </a:prstClr>
              </a:solidFill>
              <a:cs typeface="Segoe UI" panose="020B0502040204020203" pitchFamily="34" charset="0"/>
            </a:endParaRP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sz="3000" dirty="0">
              <a:solidFill>
                <a:prstClr val="black">
                  <a:lumMod val="85000"/>
                  <a:lumOff val="15000"/>
                </a:prstClr>
              </a:solidFill>
              <a:cs typeface="Segoe UI" panose="020B0502040204020203" pitchFamily="34" charset="0"/>
            </a:endParaRP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sz="3000" dirty="0">
              <a:solidFill>
                <a:prstClr val="black">
                  <a:lumMod val="85000"/>
                  <a:lumOff val="15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2FC0-087E-4C53-82C7-1D7555E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93497" y="3123659"/>
            <a:ext cx="177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Objectives</a:t>
            </a:r>
            <a:endParaRPr lang="en-US" sz="2800" b="1" dirty="0"/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5552305" y="1766226"/>
            <a:ext cx="615021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vehicles automatically using infrared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traffic lights intelligently to reduce waiting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 how microcontrollers and sensors can be applied in real-world automation projects.</a:t>
            </a:r>
          </a:p>
        </p:txBody>
      </p:sp>
    </p:spTree>
    <p:extLst>
      <p:ext uri="{BB962C8B-B14F-4D97-AF65-F5344CB8AC3E}">
        <p14:creationId xmlns:p14="http://schemas.microsoft.com/office/powerpoint/2010/main" val="3300918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055D10-5B53-4AB5-B108-CAEA2CCD74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5400000">
            <a:off x="480784" y="2110914"/>
            <a:ext cx="3833906" cy="26110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050939-D8BA-4932-A12D-76E1C8DB04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37119" y="1780916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9" name="TextBox 8" descr="decorative element">
            <a:extLst>
              <a:ext uri="{FF2B5EF4-FFF2-40B4-BE49-F238E27FC236}">
                <a16:creationId xmlns:a16="http://schemas.microsoft.com/office/drawing/2014/main" id="{203CBBBF-0B81-4DFD-BF97-EB2A57EFB9A8}"/>
              </a:ext>
            </a:extLst>
          </p:cNvPr>
          <p:cNvSpPr txBox="1"/>
          <p:nvPr/>
        </p:nvSpPr>
        <p:spPr>
          <a:xfrm>
            <a:off x="5281992" y="1814861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A05C8E-8DB2-4A35-8654-BC76A6BEFD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45915" y="2696634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1" name="TextBox 10" descr="decorative element">
            <a:extLst>
              <a:ext uri="{FF2B5EF4-FFF2-40B4-BE49-F238E27FC236}">
                <a16:creationId xmlns:a16="http://schemas.microsoft.com/office/drawing/2014/main" id="{4EF9D577-2886-4CDA-B921-E2B2C3ACB335}"/>
              </a:ext>
            </a:extLst>
          </p:cNvPr>
          <p:cNvSpPr txBox="1"/>
          <p:nvPr/>
        </p:nvSpPr>
        <p:spPr>
          <a:xfrm>
            <a:off x="5329751" y="2747551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479838-5C1C-498A-A57F-23C902B640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37119" y="3673539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3" name="TextBox 12" descr="decorative element">
            <a:extLst>
              <a:ext uri="{FF2B5EF4-FFF2-40B4-BE49-F238E27FC236}">
                <a16:creationId xmlns:a16="http://schemas.microsoft.com/office/drawing/2014/main" id="{4F0FB908-D139-41C0-A768-4CC591531971}"/>
              </a:ext>
            </a:extLst>
          </p:cNvPr>
          <p:cNvSpPr txBox="1"/>
          <p:nvPr/>
        </p:nvSpPr>
        <p:spPr>
          <a:xfrm>
            <a:off x="5298572" y="3707484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6CE282-77A8-4C84-93B8-1246EED129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262439" y="4207898"/>
            <a:ext cx="468000" cy="468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5" name="TextBox 14" descr="decorative element">
            <a:extLst>
              <a:ext uri="{FF2B5EF4-FFF2-40B4-BE49-F238E27FC236}">
                <a16:creationId xmlns:a16="http://schemas.microsoft.com/office/drawing/2014/main" id="{C2B65381-12B7-4DB7-B5B0-5CF6293348B5}"/>
              </a:ext>
            </a:extLst>
          </p:cNvPr>
          <p:cNvSpPr txBox="1"/>
          <p:nvPr/>
        </p:nvSpPr>
        <p:spPr>
          <a:xfrm>
            <a:off x="5317822" y="4258804"/>
            <a:ext cx="333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74A029-8AD0-4A10-B977-541CE5DD06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849812" y="1468316"/>
            <a:ext cx="6934199" cy="3833906"/>
          </a:xfrm>
          <a:prstGeom prst="roundRect">
            <a:avLst>
              <a:gd name="adj" fmla="val 0"/>
            </a:avLst>
          </a:prstGeom>
          <a:noFill/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57AAF-C78F-46C2-9727-8076925C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040" y="1074614"/>
            <a:ext cx="5897878" cy="538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ESP32 Development Board (the brain of the system).</a:t>
            </a:r>
          </a:p>
          <a:p>
            <a:pPr marL="0" indent="0">
              <a:buNone/>
            </a:pPr>
            <a:r>
              <a:rPr lang="en-US" sz="2400" dirty="0"/>
              <a:t>Infrared Obstacle Sensors (vehicle detection).</a:t>
            </a:r>
          </a:p>
          <a:p>
            <a:pPr marL="0" indent="0">
              <a:buNone/>
            </a:pPr>
            <a:r>
              <a:rPr lang="en-US" sz="2400" dirty="0"/>
              <a:t>LEDs (Red, Yellow, Green for each road</a:t>
            </a:r>
            <a:r>
              <a:rPr lang="en-US" sz="2400" dirty="0" smtClean="0"/>
              <a:t>).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Perfboard</a:t>
            </a:r>
            <a:r>
              <a:rPr lang="en-US" sz="2400" dirty="0"/>
              <a:t>, jumper wires, hot glue for assembly</a:t>
            </a:r>
            <a:r>
              <a:rPr lang="en-US" sz="3200" dirty="0"/>
              <a:t>.</a:t>
            </a: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sz="3000" dirty="0">
              <a:solidFill>
                <a:prstClr val="black">
                  <a:lumMod val="85000"/>
                  <a:lumOff val="15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72FC0-087E-4C53-82C7-1D7555E6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20456" y="3000186"/>
            <a:ext cx="190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Components    Used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112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At a glance our project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40" y="1513840"/>
            <a:ext cx="5699760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0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Circuit Diagram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74" y="1627283"/>
            <a:ext cx="7026249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2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Code Logics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259080" y="1972746"/>
            <a:ext cx="1193291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GPIO pins are defined for all LEDs and sensors at the beginning of the program.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pinMode()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sensor pins are set as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LED pins are set as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values are continuously read with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digitalRead()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sensor input, LEDs are controlled with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digitalWrite()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switch between Green, Yellow, and Red lights.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If a car is detected on Road A, the Green LED for Road A turns ON while other roads remain 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85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Working Principle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60120" y="6632704"/>
            <a:ext cx="115519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67640" y="2238233"/>
            <a:ext cx="1149096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Infrared sensors detect whether vehicles are present at each road.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ESP32 processes these signals and decides which road should get priority.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lights change dynamically: Green allows vehicles to pass, Yellow provides a short transition, and Red stops vehicles.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cycle repeats continuously, ensuring smoother traffic flow compared to fixed timers.</a:t>
            </a:r>
          </a:p>
        </p:txBody>
      </p:sp>
    </p:spTree>
    <p:extLst>
      <p:ext uri="{BB962C8B-B14F-4D97-AF65-F5344CB8AC3E}">
        <p14:creationId xmlns:p14="http://schemas.microsoft.com/office/powerpoint/2010/main" val="229857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36085" y="1941523"/>
            <a:ext cx="1155192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 system reduces unnecessary waiting time at traffic signals, making driving more efficient.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It saves energy by keeping lights ON only when needed.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 design is scalable and can be applied to smart city infrastructure.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It is cost-effective and easy to build with readily available components.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3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36085" y="2246919"/>
            <a:ext cx="1155192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The system relies only on IR sensors, which may give false readings in bright sunlight or dusty conditions.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It is a prototype model and not yet suitable for full-scale road intersections.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A stable power supply is required for continuous operation.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2498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Innovatives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7478" y="1942347"/>
            <a:ext cx="114782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  Pedestrian </a:t>
            </a:r>
            <a:r>
              <a:rPr lang="en-US" b="1" dirty="0"/>
              <a:t>Crossing Integration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 push button or sensor can be added for pedestrians. When pressed, the system will temporarily switch the traffic light to red, ensuring safe pedestrian crossing.</a:t>
            </a:r>
          </a:p>
          <a:p>
            <a:r>
              <a:rPr lang="en-US" b="1" dirty="0" smtClean="0"/>
              <a:t> </a:t>
            </a:r>
            <a:r>
              <a:rPr lang="en-US" b="1" dirty="0"/>
              <a:t>Solar Powered Traffic Lights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entire system can be powered by solar panels, making it eco‑friendly and suitable for rural or remote areas where electricity supply is limited.</a:t>
            </a:r>
          </a:p>
          <a:p>
            <a:r>
              <a:rPr lang="en-US" b="1" dirty="0"/>
              <a:t> </a:t>
            </a:r>
            <a:r>
              <a:rPr lang="en-US" b="1" dirty="0" smtClean="0"/>
              <a:t>IoT </a:t>
            </a:r>
            <a:r>
              <a:rPr lang="en-US" b="1" dirty="0"/>
              <a:t>Connectivity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ESP32 can send live traffic data to the cloud using Wi‑Fi. A mobile app or dashboard can then display real‑time traffic conditions, enabling smart city monitoring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Accident Alert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If a vehicle is detected as stuck for a long time, the system can send an alert to authorities. This feature can help identify accidents or breakdowns early.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3250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13605" y="6005484"/>
            <a:ext cx="115519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200" dirty="0"/>
          </a:p>
          <a:p>
            <a:endParaRPr lang="en-US" sz="28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1734" y="1711031"/>
            <a:ext cx="1150227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Pin Conflict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mistakenly assigned the same GPIO pin to two different components. It took me hours to debug why one LED wasn’t working — later I found it was clashing with an IR sensor.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Loose Jumper Wires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testing, some jumper wires got loose and caused random LED blinking. I had to rewire everything and eventually solder the connections for stability.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Hot Glue Blocking Sensor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securing the IR sensors with hot glue, a drop accidentally covered part of the sensor lens. It stopped detecting vehicles until I carefully removed the glue.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Code Logic Overlap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 initial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if-else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conditions were conflicting — multiple roads were getting green signals at once. I had to restructure the logic and test each case separately.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Perfboard Soldering Mistake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LED wasn’t lighting up even though the code was correct. Later I found a cold solder joint on the perfboard and had to re-solder it.</a:t>
            </a:r>
          </a:p>
        </p:txBody>
      </p:sp>
    </p:spTree>
    <p:extLst>
      <p:ext uri="{BB962C8B-B14F-4D97-AF65-F5344CB8AC3E}">
        <p14:creationId xmlns:p14="http://schemas.microsoft.com/office/powerpoint/2010/main" val="3139478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59B8-20D7-4327-B945-9DB34BBA1DF7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AC7997-6C29-4070-B4EB-6A172CDB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3995" y="1828622"/>
            <a:ext cx="1122600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how ESP32 and IR sensors can be combined to create an intelligent traffic light system.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highlights the potential of IoT and automation in solving real-world problems.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 could include integration with cameras, cloud-based monitoring, and AI for advanced traffic prediction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88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FF9D-FA38-4BF2-834F-D115A5276A63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11199" y="2454518"/>
            <a:ext cx="10676571" cy="1002422"/>
          </a:xfrm>
        </p:spPr>
        <p:txBody>
          <a:bodyPr/>
          <a:lstStyle/>
          <a:p>
            <a:r>
              <a:rPr lang="en-US" dirty="0" smtClean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Thank You For Your Kind Attention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1E5BF8-B883-4420-9EA9-7E920E5D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19ED-7CFA-4AF2-BE7E-6017F4B12C9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329217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Custom 5">
      <a:majorFont>
        <a:latin typeface="Franklin Gothic Demi"/>
        <a:ea typeface=""/>
        <a:cs typeface=""/>
      </a:majorFont>
      <a:minorFont>
        <a:latin typeface="Franklin Gothic Medium"/>
        <a:ea typeface=""/>
        <a:cs typeface="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57150"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33527777_Safety procedures_RVA_v4" id="{94FF351A-4B06-4881-8D26-DC6D64B3CFD2}" vid="{E8C023A2-25EA-47E0-92DC-6E1BD008E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5429E6-13D0-4D69-B2AD-EDA3074FAB41}">
  <we:reference id="wa104381063" version="1.0.0.0" store="en-US" storeType="OMEX"/>
  <we:alternateReferences>
    <we:reference id="wa104381063" version="1.0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46B2BE6-8FE9-4318-AA40-8F70CEED60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6DFB17-E262-4301-8AA5-FCE7109ED8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F39AE0-32C9-4F1D-B08C-0B8B9BAFC18D}">
  <ds:schemaRefs>
    <ds:schemaRef ds:uri="71af3243-3dd4-4a8d-8c0d-dd76da1f02a5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16c05727-aa75-4e4a-9b5f-8a80a1165891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Safety procedures</Template>
  <TotalTime>0</TotalTime>
  <Words>787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 Unicode MS</vt:lpstr>
      <vt:lpstr>Calibri</vt:lpstr>
      <vt:lpstr>Corbel</vt:lpstr>
      <vt:lpstr>Courier New</vt:lpstr>
      <vt:lpstr>Franklin Gothic Demi</vt:lpstr>
      <vt:lpstr>Franklin Gothic Medium</vt:lpstr>
      <vt:lpstr>Segoe UI</vt:lpstr>
      <vt:lpstr>Segoe UI Semibold</vt:lpstr>
      <vt:lpstr>Wingdings</vt:lpstr>
      <vt:lpstr>Headlines</vt:lpstr>
      <vt:lpstr>PowerPoint Presentation</vt:lpstr>
      <vt:lpstr>Density Based Smart Traffic Light System</vt:lpstr>
      <vt:lpstr>Introduction</vt:lpstr>
      <vt:lpstr>PowerPoint Presentation</vt:lpstr>
      <vt:lpstr>PowerPoint Presentation</vt:lpstr>
      <vt:lpstr>At a glance our project</vt:lpstr>
      <vt:lpstr>Circuit Diagram</vt:lpstr>
      <vt:lpstr>Code Logics</vt:lpstr>
      <vt:lpstr>Working Principle</vt:lpstr>
      <vt:lpstr>Advantages</vt:lpstr>
      <vt:lpstr>Limitations</vt:lpstr>
      <vt:lpstr>Innovatives</vt:lpstr>
      <vt:lpstr>Challenges</vt:lpstr>
      <vt:lpstr>Conclusion</vt:lpstr>
      <vt:lpstr>Thank You For Your Kind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2026-01-03T10:24:54Z</dcterms:created>
  <dcterms:modified xsi:type="dcterms:W3CDTF">2026-01-03T12:51:15Z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